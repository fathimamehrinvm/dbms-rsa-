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4" r:id="rId18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1F89"/>
    <a:srgbClr val="D3A4DC"/>
    <a:srgbClr val="FFFFFF"/>
    <a:srgbClr val="F2DAF6"/>
    <a:srgbClr val="EDE7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982303-A0EF-4FA7-B653-96AF23CA4650}" v="7" dt="2026-09-27T18:18:36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2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hima Mehrin V M" userId="6d643a0bf6c3ff8c" providerId="LiveId" clId="{4A521194-A99E-4BDA-BB4E-3882D54ADB3D}"/>
    <pc:docChg chg="undo redo custSel addSld delSld modSld modMainMaster">
      <pc:chgData name="Fathima Mehrin V M" userId="6d643a0bf6c3ff8c" providerId="LiveId" clId="{4A521194-A99E-4BDA-BB4E-3882D54ADB3D}" dt="2026-09-28T05:01:18.874" v="819" actId="47"/>
      <pc:docMkLst>
        <pc:docMk/>
      </pc:docMkLst>
      <pc:sldChg chg="modSp mod modTransition">
        <pc:chgData name="Fathima Mehrin V M" userId="6d643a0bf6c3ff8c" providerId="LiveId" clId="{4A521194-A99E-4BDA-BB4E-3882D54ADB3D}" dt="2026-09-27T15:13:14.848" v="12"/>
        <pc:sldMkLst>
          <pc:docMk/>
          <pc:sldMk cId="0" sldId="256"/>
        </pc:sldMkLst>
        <pc:spChg chg="mod">
          <ac:chgData name="Fathima Mehrin V M" userId="6d643a0bf6c3ff8c" providerId="LiveId" clId="{4A521194-A99E-4BDA-BB4E-3882D54ADB3D}" dt="2026-09-27T15:04:28.511" v="9" actId="20577"/>
          <ac:spMkLst>
            <pc:docMk/>
            <pc:sldMk cId="0" sldId="256"/>
            <ac:spMk id="5" creationId="{00000000-0000-0000-0000-000000000000}"/>
          </ac:spMkLst>
        </pc:spChg>
      </pc:sldChg>
      <pc:sldChg chg="modTransition">
        <pc:chgData name="Fathima Mehrin V M" userId="6d643a0bf6c3ff8c" providerId="LiveId" clId="{4A521194-A99E-4BDA-BB4E-3882D54ADB3D}" dt="2026-09-27T15:13:14.848" v="12"/>
        <pc:sldMkLst>
          <pc:docMk/>
          <pc:sldMk cId="0" sldId="257"/>
        </pc:sldMkLst>
      </pc:sldChg>
      <pc:sldChg chg="modTransition">
        <pc:chgData name="Fathima Mehrin V M" userId="6d643a0bf6c3ff8c" providerId="LiveId" clId="{4A521194-A99E-4BDA-BB4E-3882D54ADB3D}" dt="2026-09-27T15:13:14.848" v="12"/>
        <pc:sldMkLst>
          <pc:docMk/>
          <pc:sldMk cId="0" sldId="258"/>
        </pc:sldMkLst>
      </pc:sldChg>
      <pc:sldChg chg="modTransition">
        <pc:chgData name="Fathima Mehrin V M" userId="6d643a0bf6c3ff8c" providerId="LiveId" clId="{4A521194-A99E-4BDA-BB4E-3882D54ADB3D}" dt="2026-09-27T15:13:14.848" v="12"/>
        <pc:sldMkLst>
          <pc:docMk/>
          <pc:sldMk cId="0" sldId="259"/>
        </pc:sldMkLst>
      </pc:sldChg>
      <pc:sldChg chg="modTransition">
        <pc:chgData name="Fathima Mehrin V M" userId="6d643a0bf6c3ff8c" providerId="LiveId" clId="{4A521194-A99E-4BDA-BB4E-3882D54ADB3D}" dt="2026-09-27T15:13:14.848" v="12"/>
        <pc:sldMkLst>
          <pc:docMk/>
          <pc:sldMk cId="0" sldId="260"/>
        </pc:sldMkLst>
      </pc:sldChg>
      <pc:sldChg chg="modSp mod modTransition">
        <pc:chgData name="Fathima Mehrin V M" userId="6d643a0bf6c3ff8c" providerId="LiveId" clId="{4A521194-A99E-4BDA-BB4E-3882D54ADB3D}" dt="2026-09-27T16:15:34.169" v="149" actId="113"/>
        <pc:sldMkLst>
          <pc:docMk/>
          <pc:sldMk cId="0" sldId="261"/>
        </pc:sldMkLst>
        <pc:spChg chg="mod">
          <ac:chgData name="Fathima Mehrin V M" userId="6d643a0bf6c3ff8c" providerId="LiveId" clId="{4A521194-A99E-4BDA-BB4E-3882D54ADB3D}" dt="2026-09-27T16:11:44.427" v="40" actId="20577"/>
          <ac:spMkLst>
            <pc:docMk/>
            <pc:sldMk cId="0" sldId="261"/>
            <ac:spMk id="8" creationId="{00000000-0000-0000-0000-000000000000}"/>
          </ac:spMkLst>
        </pc:spChg>
        <pc:spChg chg="mod">
          <ac:chgData name="Fathima Mehrin V M" userId="6d643a0bf6c3ff8c" providerId="LiveId" clId="{4A521194-A99E-4BDA-BB4E-3882D54ADB3D}" dt="2026-09-27T16:15:34.169" v="149" actId="11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Fathima Mehrin V M" userId="6d643a0bf6c3ff8c" providerId="LiveId" clId="{4A521194-A99E-4BDA-BB4E-3882D54ADB3D}" dt="2026-09-27T16:15:23.126" v="148" actId="113"/>
          <ac:spMkLst>
            <pc:docMk/>
            <pc:sldMk cId="0" sldId="261"/>
            <ac:spMk id="18" creationId="{00000000-0000-0000-0000-000000000000}"/>
          </ac:spMkLst>
        </pc:spChg>
      </pc:sldChg>
      <pc:sldChg chg="modTransition">
        <pc:chgData name="Fathima Mehrin V M" userId="6d643a0bf6c3ff8c" providerId="LiveId" clId="{4A521194-A99E-4BDA-BB4E-3882D54ADB3D}" dt="2026-09-27T15:13:14.848" v="12"/>
        <pc:sldMkLst>
          <pc:docMk/>
          <pc:sldMk cId="0" sldId="262"/>
        </pc:sldMkLst>
      </pc:sldChg>
      <pc:sldChg chg="modSp mod modTransition">
        <pc:chgData name="Fathima Mehrin V M" userId="6d643a0bf6c3ff8c" providerId="LiveId" clId="{4A521194-A99E-4BDA-BB4E-3882D54ADB3D}" dt="2026-09-27T17:03:27.579" v="153" actId="113"/>
        <pc:sldMkLst>
          <pc:docMk/>
          <pc:sldMk cId="0" sldId="263"/>
        </pc:sldMkLst>
        <pc:spChg chg="mod">
          <ac:chgData name="Fathima Mehrin V M" userId="6d643a0bf6c3ff8c" providerId="LiveId" clId="{4A521194-A99E-4BDA-BB4E-3882D54ADB3D}" dt="2026-09-27T17:02:34.380" v="151" actId="113"/>
          <ac:spMkLst>
            <pc:docMk/>
            <pc:sldMk cId="0" sldId="263"/>
            <ac:spMk id="7" creationId="{00000000-0000-0000-0000-000000000000}"/>
          </ac:spMkLst>
        </pc:spChg>
        <pc:spChg chg="mod">
          <ac:chgData name="Fathima Mehrin V M" userId="6d643a0bf6c3ff8c" providerId="LiveId" clId="{4A521194-A99E-4BDA-BB4E-3882D54ADB3D}" dt="2026-09-27T17:03:03.650" v="152" actId="113"/>
          <ac:spMkLst>
            <pc:docMk/>
            <pc:sldMk cId="0" sldId="263"/>
            <ac:spMk id="11" creationId="{00000000-0000-0000-0000-000000000000}"/>
          </ac:spMkLst>
        </pc:spChg>
        <pc:spChg chg="mod">
          <ac:chgData name="Fathima Mehrin V M" userId="6d643a0bf6c3ff8c" providerId="LiveId" clId="{4A521194-A99E-4BDA-BB4E-3882D54ADB3D}" dt="2026-09-27T17:03:27.579" v="153" actId="113"/>
          <ac:spMkLst>
            <pc:docMk/>
            <pc:sldMk cId="0" sldId="263"/>
            <ac:spMk id="15" creationId="{00000000-0000-0000-0000-000000000000}"/>
          </ac:spMkLst>
        </pc:spChg>
      </pc:sldChg>
      <pc:sldChg chg="modSp mod modTransition">
        <pc:chgData name="Fathima Mehrin V M" userId="6d643a0bf6c3ff8c" providerId="LiveId" clId="{4A521194-A99E-4BDA-BB4E-3882D54ADB3D}" dt="2026-09-27T17:28:37.940" v="375" actId="113"/>
        <pc:sldMkLst>
          <pc:docMk/>
          <pc:sldMk cId="0" sldId="264"/>
        </pc:sldMkLst>
        <pc:spChg chg="mod">
          <ac:chgData name="Fathima Mehrin V M" userId="6d643a0bf6c3ff8c" providerId="LiveId" clId="{4A521194-A99E-4BDA-BB4E-3882D54ADB3D}" dt="2026-09-27T17:28:37.940" v="375" actId="113"/>
          <ac:spMkLst>
            <pc:docMk/>
            <pc:sldMk cId="0" sldId="264"/>
            <ac:spMk id="18" creationId="{00000000-0000-0000-0000-000000000000}"/>
          </ac:spMkLst>
        </pc:spChg>
      </pc:sldChg>
      <pc:sldChg chg="modTransition">
        <pc:chgData name="Fathima Mehrin V M" userId="6d643a0bf6c3ff8c" providerId="LiveId" clId="{4A521194-A99E-4BDA-BB4E-3882D54ADB3D}" dt="2026-09-27T15:13:14.848" v="12"/>
        <pc:sldMkLst>
          <pc:docMk/>
          <pc:sldMk cId="0" sldId="265"/>
        </pc:sldMkLst>
      </pc:sldChg>
      <pc:sldChg chg="modTransition">
        <pc:chgData name="Fathima Mehrin V M" userId="6d643a0bf6c3ff8c" providerId="LiveId" clId="{4A521194-A99E-4BDA-BB4E-3882D54ADB3D}" dt="2026-09-27T15:13:14.848" v="12"/>
        <pc:sldMkLst>
          <pc:docMk/>
          <pc:sldMk cId="0" sldId="266"/>
        </pc:sldMkLst>
      </pc:sldChg>
      <pc:sldChg chg="modTransition">
        <pc:chgData name="Fathima Mehrin V M" userId="6d643a0bf6c3ff8c" providerId="LiveId" clId="{4A521194-A99E-4BDA-BB4E-3882D54ADB3D}" dt="2026-09-27T15:13:14.848" v="12"/>
        <pc:sldMkLst>
          <pc:docMk/>
          <pc:sldMk cId="0" sldId="267"/>
        </pc:sldMkLst>
      </pc:sldChg>
      <pc:sldChg chg="modSp mod modTransition">
        <pc:chgData name="Fathima Mehrin V M" userId="6d643a0bf6c3ff8c" providerId="LiveId" clId="{4A521194-A99E-4BDA-BB4E-3882D54ADB3D}" dt="2026-09-27T17:28:43.085" v="377" actId="20577"/>
        <pc:sldMkLst>
          <pc:docMk/>
          <pc:sldMk cId="0" sldId="268"/>
        </pc:sldMkLst>
        <pc:spChg chg="mod">
          <ac:chgData name="Fathima Mehrin V M" userId="6d643a0bf6c3ff8c" providerId="LiveId" clId="{4A521194-A99E-4BDA-BB4E-3882D54ADB3D}" dt="2026-09-27T17:28:43.085" v="377" actId="20577"/>
          <ac:spMkLst>
            <pc:docMk/>
            <pc:sldMk cId="0" sldId="268"/>
            <ac:spMk id="8" creationId="{00000000-0000-0000-0000-000000000000}"/>
          </ac:spMkLst>
        </pc:spChg>
      </pc:sldChg>
      <pc:sldChg chg="modSp mod modTransition">
        <pc:chgData name="Fathima Mehrin V M" userId="6d643a0bf6c3ff8c" providerId="LiveId" clId="{4A521194-A99E-4BDA-BB4E-3882D54ADB3D}" dt="2026-09-27T17:41:15.647" v="502" actId="113"/>
        <pc:sldMkLst>
          <pc:docMk/>
          <pc:sldMk cId="0" sldId="269"/>
        </pc:sldMkLst>
        <pc:spChg chg="mod">
          <ac:chgData name="Fathima Mehrin V M" userId="6d643a0bf6c3ff8c" providerId="LiveId" clId="{4A521194-A99E-4BDA-BB4E-3882D54ADB3D}" dt="2026-09-27T17:41:15.647" v="502" actId="113"/>
          <ac:spMkLst>
            <pc:docMk/>
            <pc:sldMk cId="0" sldId="269"/>
            <ac:spMk id="8" creationId="{00000000-0000-0000-0000-000000000000}"/>
          </ac:spMkLst>
        </pc:spChg>
      </pc:sldChg>
      <pc:sldChg chg="addSp modSp mod modTransition">
        <pc:chgData name="Fathima Mehrin V M" userId="6d643a0bf6c3ff8c" providerId="LiveId" clId="{4A521194-A99E-4BDA-BB4E-3882D54ADB3D}" dt="2026-09-27T18:05:09.989" v="744" actId="20577"/>
        <pc:sldMkLst>
          <pc:docMk/>
          <pc:sldMk cId="0" sldId="270"/>
        </pc:sldMkLst>
        <pc:spChg chg="add mod">
          <ac:chgData name="Fathima Mehrin V M" userId="6d643a0bf6c3ff8c" providerId="LiveId" clId="{4A521194-A99E-4BDA-BB4E-3882D54ADB3D}" dt="2026-09-27T18:05:09.989" v="744" actId="20577"/>
          <ac:spMkLst>
            <pc:docMk/>
            <pc:sldMk cId="0" sldId="270"/>
            <ac:spMk id="16" creationId="{5F4D704C-7D40-2036-94CF-09BB6851A6F5}"/>
          </ac:spMkLst>
        </pc:spChg>
      </pc:sldChg>
      <pc:sldChg chg="del modTransition">
        <pc:chgData name="Fathima Mehrin V M" userId="6d643a0bf6c3ff8c" providerId="LiveId" clId="{4A521194-A99E-4BDA-BB4E-3882D54ADB3D}" dt="2026-09-27T18:07:06.768" v="745" actId="47"/>
        <pc:sldMkLst>
          <pc:docMk/>
          <pc:sldMk cId="0" sldId="271"/>
        </pc:sldMkLst>
      </pc:sldChg>
      <pc:sldChg chg="del modTransition">
        <pc:chgData name="Fathima Mehrin V M" userId="6d643a0bf6c3ff8c" providerId="LiveId" clId="{4A521194-A99E-4BDA-BB4E-3882D54ADB3D}" dt="2026-09-28T05:01:18.874" v="819" actId="47"/>
        <pc:sldMkLst>
          <pc:docMk/>
          <pc:sldMk cId="0" sldId="272"/>
        </pc:sldMkLst>
      </pc:sldChg>
      <pc:sldChg chg="modTransition">
        <pc:chgData name="Fathima Mehrin V M" userId="6d643a0bf6c3ff8c" providerId="LiveId" clId="{4A521194-A99E-4BDA-BB4E-3882D54ADB3D}" dt="2026-09-27T15:13:14.848" v="12"/>
        <pc:sldMkLst>
          <pc:docMk/>
          <pc:sldMk cId="0" sldId="273"/>
        </pc:sldMkLst>
      </pc:sldChg>
      <pc:sldChg chg="modTransition">
        <pc:chgData name="Fathima Mehrin V M" userId="6d643a0bf6c3ff8c" providerId="LiveId" clId="{4A521194-A99E-4BDA-BB4E-3882D54ADB3D}" dt="2026-09-27T15:13:14.848" v="12"/>
        <pc:sldMkLst>
          <pc:docMk/>
          <pc:sldMk cId="0" sldId="274"/>
        </pc:sldMkLst>
      </pc:sldChg>
      <pc:sldChg chg="del">
        <pc:chgData name="Fathima Mehrin V M" userId="6d643a0bf6c3ff8c" providerId="LiveId" clId="{4A521194-A99E-4BDA-BB4E-3882D54ADB3D}" dt="2026-09-27T15:08:49.207" v="10" actId="47"/>
        <pc:sldMkLst>
          <pc:docMk/>
          <pc:sldMk cId="2528800433" sldId="275"/>
        </pc:sldMkLst>
      </pc:sldChg>
      <pc:sldChg chg="addSp delSp modSp new mod modTransition">
        <pc:chgData name="Fathima Mehrin V M" userId="6d643a0bf6c3ff8c" providerId="LiveId" clId="{4A521194-A99E-4BDA-BB4E-3882D54ADB3D}" dt="2026-09-27T18:19:14.199" v="818" actId="14100"/>
        <pc:sldMkLst>
          <pc:docMk/>
          <pc:sldMk cId="3989255874" sldId="275"/>
        </pc:sldMkLst>
        <pc:spChg chg="add mod">
          <ac:chgData name="Fathima Mehrin V M" userId="6d643a0bf6c3ff8c" providerId="LiveId" clId="{4A521194-A99E-4BDA-BB4E-3882D54ADB3D}" dt="2026-09-27T18:19:14.199" v="818" actId="14100"/>
          <ac:spMkLst>
            <pc:docMk/>
            <pc:sldMk cId="3989255874" sldId="275"/>
            <ac:spMk id="2" creationId="{29EE3643-1EE5-E6F3-2423-382D7F8BA7AD}"/>
          </ac:spMkLst>
        </pc:spChg>
        <pc:spChg chg="add mod ord">
          <ac:chgData name="Fathima Mehrin V M" userId="6d643a0bf6c3ff8c" providerId="LiveId" clId="{4A521194-A99E-4BDA-BB4E-3882D54ADB3D}" dt="2026-09-27T18:15:50.196" v="811" actId="1076"/>
          <ac:spMkLst>
            <pc:docMk/>
            <pc:sldMk cId="3989255874" sldId="275"/>
            <ac:spMk id="3" creationId="{FCC77454-A450-3D66-1B5F-58EA2FE505F2}"/>
          </ac:spMkLst>
        </pc:spChg>
        <pc:spChg chg="add mod">
          <ac:chgData name="Fathima Mehrin V M" userId="6d643a0bf6c3ff8c" providerId="LiveId" clId="{4A521194-A99E-4BDA-BB4E-3882D54ADB3D}" dt="2026-09-27T18:15:59.345" v="812" actId="1076"/>
          <ac:spMkLst>
            <pc:docMk/>
            <pc:sldMk cId="3989255874" sldId="275"/>
            <ac:spMk id="4" creationId="{2BB56D0C-A17F-5C74-FF06-5B719ED79EC0}"/>
          </ac:spMkLst>
        </pc:spChg>
        <pc:spChg chg="add del mod">
          <ac:chgData name="Fathima Mehrin V M" userId="6d643a0bf6c3ff8c" providerId="LiveId" clId="{4A521194-A99E-4BDA-BB4E-3882D54ADB3D}" dt="2026-09-27T18:11:07.071" v="769"/>
          <ac:spMkLst>
            <pc:docMk/>
            <pc:sldMk cId="3989255874" sldId="275"/>
            <ac:spMk id="5" creationId="{B0024549-D0D3-71E6-8928-C652ED7BEAE0}"/>
          </ac:spMkLst>
        </pc:spChg>
        <pc:spChg chg="add mod">
          <ac:chgData name="Fathima Mehrin V M" userId="6d643a0bf6c3ff8c" providerId="LiveId" clId="{4A521194-A99E-4BDA-BB4E-3882D54ADB3D}" dt="2026-09-27T18:13:48.836" v="787" actId="208"/>
          <ac:spMkLst>
            <pc:docMk/>
            <pc:sldMk cId="3989255874" sldId="275"/>
            <ac:spMk id="6" creationId="{477F4478-7175-6E34-940B-6B8F0360C481}"/>
          </ac:spMkLst>
        </pc:spChg>
        <pc:spChg chg="add mod ord">
          <ac:chgData name="Fathima Mehrin V M" userId="6d643a0bf6c3ff8c" providerId="LiveId" clId="{4A521194-A99E-4BDA-BB4E-3882D54ADB3D}" dt="2026-09-27T18:14:47.746" v="806" actId="255"/>
          <ac:spMkLst>
            <pc:docMk/>
            <pc:sldMk cId="3989255874" sldId="275"/>
            <ac:spMk id="7" creationId="{37343DB0-3BDE-A6E8-203E-636C0CF3F771}"/>
          </ac:spMkLst>
        </pc:spChg>
      </pc:sldChg>
      <pc:sldMasterChg chg="modTransition modSldLayout">
        <pc:chgData name="Fathima Mehrin V M" userId="6d643a0bf6c3ff8c" providerId="LiveId" clId="{4A521194-A99E-4BDA-BB4E-3882D54ADB3D}" dt="2026-09-27T15:13:14.848" v="12"/>
        <pc:sldMasterMkLst>
          <pc:docMk/>
          <pc:sldMasterMk cId="0" sldId="2147483648"/>
        </pc:sldMasterMkLst>
        <pc:sldLayoutChg chg="modTransition">
          <pc:chgData name="Fathima Mehrin V M" userId="6d643a0bf6c3ff8c" providerId="LiveId" clId="{4A521194-A99E-4BDA-BB4E-3882D54ADB3D}" dt="2026-09-27T15:13:14.848" v="12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modTransition">
        <pc:chgData name="Fathima Mehrin V M" userId="6d643a0bf6c3ff8c" providerId="LiveId" clId="{4A521194-A99E-4BDA-BB4E-3882D54ADB3D}" dt="2026-09-27T18:18:36.576" v="816"/>
        <pc:sldMasterMkLst>
          <pc:docMk/>
          <pc:sldMasterMk cId="3391262914" sldId="2147483650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1297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E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6C3FB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C77DF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607040" y="5212080"/>
            <a:ext cx="1463040" cy="1463040"/>
          </a:xfrm>
          <a:prstGeom prst="ellipse">
            <a:avLst/>
          </a:prstGeom>
          <a:solidFill>
            <a:srgbClr val="D9CBF5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D9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 Relational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Systems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420624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relational databases were enhanced with object-oriented concepts — complex types, inheritance, arrays, references — with SQL examples throughout.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069080"/>
            <a:ext cx="1188720" cy="0"/>
          </a:xfrm>
          <a:prstGeom prst="line">
            <a:avLst/>
          </a:prstGeom>
          <a:noFill/>
          <a:ln w="381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819656"/>
            <a:ext cx="512064" cy="512064"/>
          </a:xfrm>
          <a:prstGeom prst="ellipse">
            <a:avLst/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819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89888" y="16916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plain RDBMS falls short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169164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91072" y="1819656"/>
            <a:ext cx="512064" cy="512064"/>
          </a:xfrm>
          <a:prstGeom prst="ellipse">
            <a:avLst/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91072" y="181965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67728" y="169164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ORDBMS?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" y="2779776"/>
            <a:ext cx="512064" cy="512064"/>
          </a:xfrm>
          <a:prstGeom prst="ellipse">
            <a:avLst/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2779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89888" y="2651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 &amp; disadvantages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265176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91072" y="2779776"/>
            <a:ext cx="512064" cy="512064"/>
          </a:xfrm>
          <a:prstGeom prst="ellipse">
            <a:avLst/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91072" y="2779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67728" y="265176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data types &amp; type constructors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61188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3739896"/>
            <a:ext cx="512064" cy="512064"/>
          </a:xfrm>
          <a:prstGeom prst="ellipse">
            <a:avLst/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89888" y="36118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in SQL (type &amp; table)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26480" y="361188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91072" y="3739896"/>
            <a:ext cx="512064" cy="512064"/>
          </a:xfrm>
          <a:prstGeom prst="ellipse">
            <a:avLst/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072" y="37398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67728" y="361188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multisets &amp; object references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57200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13232" y="4700016"/>
            <a:ext cx="512064" cy="512064"/>
          </a:xfrm>
          <a:prstGeom prst="ellipse">
            <a:avLst/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" y="4700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389888" y="45720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issues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126480" y="4572000"/>
            <a:ext cx="5257800" cy="777240"/>
          </a:xfrm>
          <a:prstGeom prst="roundRect">
            <a:avLst>
              <a:gd name="adj" fmla="val 11765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291072" y="4700016"/>
            <a:ext cx="512064" cy="512064"/>
          </a:xfrm>
          <a:prstGeom prst="ellipse">
            <a:avLst/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91072" y="47000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67728" y="4572000"/>
            <a:ext cx="4251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ORDBMS vs OODBMS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Plain RDBMS Falls Short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databases represent everything as simple two-dimensional tables. This works beautifully for text/business data, but struggles with complex applications: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441448"/>
            <a:ext cx="502920" cy="502920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4231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applications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CAD, CAM, CIM and CASE systems need rich interrelationships among objects — hard to model as flat tables.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24028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2441448"/>
            <a:ext cx="502920" cy="502920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24414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086600" y="242316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Multi-valued attributes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446520" y="306324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Composite/multi-valued attributes force a table to be split into several tables just to stay normalized.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77240" y="4315968"/>
            <a:ext cx="502920" cy="502920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4297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custom data types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49377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only offers standard built-in types — users cannot define their own domain-specific types.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114800"/>
            <a:ext cx="5440680" cy="1691640"/>
          </a:xfrm>
          <a:prstGeom prst="roundRect">
            <a:avLst>
              <a:gd name="adj" fmla="val 6486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400800" y="4315968"/>
            <a:ext cx="502920" cy="502920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0" y="4315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86600" y="4297680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 is unnatural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446520" y="493776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Hierarchies (e.g. Student is-a Person) need multiple linked tables with referential constraints instead of one clean structure.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RDBMS remains commercially successful — proven security, reliability, and easy access. So instead of replacing it, the industry extended it.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an ORDBMS?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77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ORDBMS = </a:t>
            </a:r>
            <a:r>
              <a:rPr lang="en-US" sz="19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“Relational Database + Object-Oriented Features”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D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system enhanced with a richer type system and object-orientation, with SQL extended to handle these new types. Relational users can migrate to it easily.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build an object database system: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A — OODBMS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4846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Object-Oriented Programming and extend it to include database features (persistence, transactions).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3703320"/>
            <a:ext cx="5440680" cy="2377440"/>
          </a:xfrm>
          <a:prstGeom prst="roundRect">
            <a:avLst>
              <a:gd name="adj" fmla="val 4615"/>
            </a:avLst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3886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B — ORDBMS ✓ (our focus)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42976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proven Relational model and extend it with object-oriented features — new types, inheritance, references.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REAL WORLD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ORDBMS Products You'll Recognise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EDE7F9"/>
          </a:solidFill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993392"/>
            <a:ext cx="530352" cy="530352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993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8 (Oracle Data Cartridge)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EDE7F9"/>
          </a:solidFill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62272" y="1993392"/>
            <a:ext cx="530352" cy="530352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62272" y="1993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1828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DB2 Universal Database (Extenders)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EDE7F9"/>
          </a:solidFill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11312" y="1993392"/>
            <a:ext cx="530352" cy="530352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11312" y="1993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869680" y="18288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Informix Dynamic Server (Data Blades)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EDE7F9"/>
          </a:solidFill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13232" y="3044952"/>
            <a:ext cx="530352" cy="530352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3232" y="3044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71600" y="28803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 II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288036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EDE7F9"/>
          </a:solidFill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462272" y="3044952"/>
            <a:ext cx="530352" cy="530352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62272" y="3044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28803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Sybase Adaptive Server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288036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EDE7F9"/>
          </a:solidFill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11312" y="3044952"/>
            <a:ext cx="530352" cy="530352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11312" y="3044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69680" y="288036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UniSQL / OSMOS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4206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vendors extended their existing relational engines with support for multimedia, spatial/geographic data, ADTs (Abstract Data Types) and collection-valued attributes.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Did ORDBMS Emerge?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943100" y="2057400"/>
            <a:ext cx="822960" cy="822960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94310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new applications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technology developed, New applications became complex &amp; sophisticated, needing diverse data — far beyond simple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and text.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37860" y="2057400"/>
            <a:ext cx="822960" cy="822960"/>
          </a:xfrm>
          <a:prstGeom prst="ellipse">
            <a:avLst/>
          </a:prstGeom>
          <a:solidFill>
            <a:srgbClr val="C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73786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🎞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kinds of data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617720" y="37947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ED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needed to store </a:t>
            </a:r>
            <a:r>
              <a:rPr lang="en-US" sz="1250" b="1" dirty="0">
                <a:solidFill>
                  <a:srgbClr val="ED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images, audio, streamed data and BLOBs</a:t>
            </a:r>
            <a:r>
              <a:rPr lang="en-US" sz="1250" dirty="0">
                <a:solidFill>
                  <a:srgbClr val="ED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directly inside the database.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ED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medical info system stores – patient details along with medical images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ED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Eg: Digital Library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532620" y="2057400"/>
            <a:ext cx="822960" cy="822960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532620" y="20574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66760" y="3108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of both worlds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412480" y="3794760"/>
            <a:ext cx="3063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rising trend to merge the </a:t>
            </a:r>
            <a:r>
              <a:rPr lang="en-US" sz="12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features of object databases</a:t>
            </a:r>
            <a:r>
              <a:rPr lang="en-US" sz="12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into the proven</a:t>
            </a:r>
            <a:r>
              <a:rPr lang="en-US" sz="125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reliable relational model.</a:t>
            </a:r>
            <a:endParaRPr lang="en-US" sz="1250" b="1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ORDBMS evolved to meet the challenges of new, complex applications that plain RDBMS could not handle efficiently.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ORDBMS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856232"/>
            <a:ext cx="548640" cy="548640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562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programmer can extend the DBMS server centrally to add standard functionality — instead of re-coding it in every application.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6520" y="1856232"/>
            <a:ext cx="548640" cy="548640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78040" y="185623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5146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app needs a particular database functionality, it can be embedded once into the server, and every application shares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096512"/>
            <a:ext cx="548640" cy="548640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4096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409651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 migration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4754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can migrate from their existing relational systems to ORDBMS without making major structural changes.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440680" cy="2057400"/>
          </a:xfrm>
          <a:prstGeom prst="roundRect">
            <a:avLst>
              <a:gd name="adj" fmla="val 5333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46520" y="4096512"/>
            <a:ext cx="548640" cy="548640"/>
          </a:xfrm>
          <a:prstGeom prst="ellipse">
            <a:avLst/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40965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78040" y="4096512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SQL's own strength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475488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is a mature 4GL — it gives strong protection against programming errors and a rich foundation for query optimisation.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B1E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 of ORDBMS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C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80160" y="1664208"/>
            <a:ext cx="10241280" cy="960120"/>
          </a:xfrm>
          <a:prstGeom prst="roundRect">
            <a:avLst>
              <a:gd name="adj" fmla="val 9524"/>
            </a:avLst>
          </a:prstGeom>
          <a:solidFill>
            <a:srgbClr val="6C3FBF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508760" y="1664208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nature and comes with increased development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maintenance costs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C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80160" y="2807208"/>
            <a:ext cx="10241280" cy="960120"/>
          </a:xfrm>
          <a:prstGeom prst="roundRect">
            <a:avLst>
              <a:gd name="adj" fmla="val 9524"/>
            </a:avLst>
          </a:prstGeom>
          <a:solidFill>
            <a:srgbClr val="6C3FBF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508760" y="2807208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purists feel the extensions dilute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simplicity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made the relational model successful.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C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80160" y="3950208"/>
            <a:ext cx="10241280" cy="960120"/>
          </a:xfrm>
          <a:prstGeom prst="roundRect">
            <a:avLst>
              <a:gd name="adj" fmla="val 9524"/>
            </a:avLst>
          </a:prstGeom>
          <a:solidFill>
            <a:srgbClr val="6C3FBF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08760" y="3950208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experts believe it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suits only a limited set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applications, not general relational use.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C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80160" y="5093208"/>
            <a:ext cx="10241280" cy="960120"/>
          </a:xfrm>
          <a:prstGeom prst="roundRect">
            <a:avLst>
              <a:gd name="adj" fmla="val 9524"/>
            </a:avLst>
          </a:prstGeom>
          <a:solidFill>
            <a:srgbClr val="6C3FBF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508760" y="5093208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strength of ORDBMS (SQL) is also its weakness for memory-resident, high-performance applications — SQL overhead can hurt in-memory workloads.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TRAITS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Characteristics of ORDBMS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98424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Relations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of a table can themselves contain whole relations (tables within tables).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0" y="2011680"/>
            <a:ext cx="640080" cy="640080"/>
          </a:xfrm>
          <a:prstGeom prst="ellipse">
            <a:avLst/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23760" y="198424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 Types &amp; Object-Orientation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4652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classes, objects, inheritance — not just atomic values.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4160520"/>
            <a:ext cx="640080" cy="640080"/>
          </a:xfrm>
          <a:prstGeom prst="ellipse">
            <a:avLst/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413308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with Complex Types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enough to store complex data. We must </a:t>
            </a:r>
            <a:r>
              <a:rPr lang="en-US" sz="120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able to search and retrieve </a:t>
            </a:r>
            <a:r>
              <a:rPr lang="en-US" sz="12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it. SQL is extended so queries can search and filter inside complex/nested structures.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931920"/>
            <a:ext cx="5440680" cy="1965960"/>
          </a:xfrm>
          <a:prstGeom prst="roundRect">
            <a:avLst>
              <a:gd name="adj" fmla="val 5581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00800" y="4160520"/>
            <a:ext cx="640080" cy="640080"/>
          </a:xfrm>
          <a:prstGeom prst="ellipse">
            <a:avLst/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23760" y="4133088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Creation of Complex Values &amp; Objects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8920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developers build new structured values/objects, not just simple rows.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56032"/>
            <a:ext cx="11640312" cy="868680"/>
          </a:xfrm>
          <a:prstGeom prst="roundRect">
            <a:avLst>
              <a:gd name="adj" fmla="val 14737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9184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Representing a Complex Type: Address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86384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D9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example — how it is represented in a traditional RDBMS vs. in an ORDBMS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5532120" cy="5230368"/>
          </a:xfrm>
          <a:prstGeom prst="roundRect">
            <a:avLst>
              <a:gd name="adj" fmla="val 1748"/>
            </a:avLst>
          </a:prstGeom>
          <a:solidFill>
            <a:srgbClr val="EDE7F9"/>
          </a:solidFill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76072" y="1368071"/>
            <a:ext cx="5202936" cy="384048"/>
          </a:xfrm>
          <a:prstGeom prst="roundRect">
            <a:avLst>
              <a:gd name="adj" fmla="val 19048"/>
            </a:avLst>
          </a:prstGeom>
          <a:solidFill>
            <a:srgbClr val="6C3FB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6072" y="1408176"/>
            <a:ext cx="5202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 Traditional RDBMS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4360" y="1865376"/>
            <a:ext cx="5166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address components are stored as separate columns in the STUDENT table.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94360" y="2146594"/>
            <a:ext cx="5166360" cy="1417320"/>
          </a:xfrm>
          <a:prstGeom prst="roundRect">
            <a:avLst>
              <a:gd name="adj" fmla="val 6061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2203704"/>
            <a:ext cx="4837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Char(25), 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house Char(20),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locality Char(20),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 Char(12),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 Char(15),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50" dirty="0" err="1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pincode</a:t>
            </a: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Char(6),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phone Char(12),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program Char(5)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593592"/>
          <a:ext cx="5166360" cy="585216"/>
        </p:xfrm>
        <a:graphic>
          <a:graphicData uri="http://schemas.openxmlformats.org/drawingml/2006/table">
            <a:tbl>
              <a:tblPr/>
              <a:tblGrid>
                <a:gridCol w="6457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57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5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57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57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57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57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457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house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locality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city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state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pincode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phone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programme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E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2A1A4A"/>
                          </a:solidFill>
                        </a:rPr>
                        <a:t>Anu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2A1A4A"/>
                          </a:solidFill>
                        </a:rPr>
                        <a:t>Rose Villa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2A1A4A"/>
                          </a:solidFill>
                        </a:rPr>
                        <a:t>Edappally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2A1A4A"/>
                          </a:solidFill>
                        </a:rPr>
                        <a:t>Kochi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2A1A4A"/>
                          </a:solidFill>
                        </a:rPr>
                        <a:t>Kerala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2A1A4A"/>
                          </a:solidFill>
                        </a:rPr>
                        <a:t>682024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2A1A4A"/>
                          </a:solidFill>
                        </a:rPr>
                        <a:t>9876543210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2A1A4A"/>
                          </a:solidFill>
                        </a:rPr>
                        <a:t>MCA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2651760" y="4325112"/>
            <a:ext cx="1051560" cy="329184"/>
          </a:xfrm>
          <a:prstGeom prst="roundRect">
            <a:avLst>
              <a:gd name="adj" fmla="val 16667"/>
            </a:avLst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2651760" y="4325112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77540" y="4654296"/>
            <a:ext cx="0" cy="109728"/>
          </a:xfrm>
          <a:prstGeom prst="line">
            <a:avLst/>
          </a:prstGeom>
          <a:noFill/>
          <a:ln w="15875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921258" y="4764024"/>
            <a:ext cx="2256282" cy="0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921258" y="4764024"/>
            <a:ext cx="0" cy="73152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14934" y="4840304"/>
            <a:ext cx="60350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19506" y="4837176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630" dirty="0"/>
          </a:p>
        </p:txBody>
      </p:sp>
      <p:sp>
        <p:nvSpPr>
          <p:cNvPr id="19" name="Shape 16"/>
          <p:cNvSpPr/>
          <p:nvPr/>
        </p:nvSpPr>
        <p:spPr>
          <a:xfrm>
            <a:off x="1565910" y="4764024"/>
            <a:ext cx="1611630" cy="0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1565910" y="4764024"/>
            <a:ext cx="0" cy="73152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264158" y="4837176"/>
            <a:ext cx="60350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264158" y="4837176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</a:t>
            </a:r>
            <a:endParaRPr lang="en-US" sz="630" dirty="0"/>
          </a:p>
        </p:txBody>
      </p:sp>
      <p:sp>
        <p:nvSpPr>
          <p:cNvPr id="23" name="Shape 20"/>
          <p:cNvSpPr/>
          <p:nvPr/>
        </p:nvSpPr>
        <p:spPr>
          <a:xfrm>
            <a:off x="2210562" y="4764024"/>
            <a:ext cx="966978" cy="0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2210562" y="4764024"/>
            <a:ext cx="0" cy="73152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1908810" y="4837176"/>
            <a:ext cx="60350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908810" y="4837176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</a:t>
            </a:r>
            <a:endParaRPr lang="en-US" sz="630" dirty="0"/>
          </a:p>
        </p:txBody>
      </p:sp>
      <p:sp>
        <p:nvSpPr>
          <p:cNvPr id="27" name="Shape 24"/>
          <p:cNvSpPr/>
          <p:nvPr/>
        </p:nvSpPr>
        <p:spPr>
          <a:xfrm>
            <a:off x="2855214" y="4764024"/>
            <a:ext cx="322326" cy="0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2855214" y="4764024"/>
            <a:ext cx="0" cy="73152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2553462" y="4837176"/>
            <a:ext cx="60350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2553462" y="4837176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630" dirty="0"/>
          </a:p>
        </p:txBody>
      </p:sp>
      <p:sp>
        <p:nvSpPr>
          <p:cNvPr id="31" name="Shape 28"/>
          <p:cNvSpPr/>
          <p:nvPr/>
        </p:nvSpPr>
        <p:spPr>
          <a:xfrm>
            <a:off x="3177540" y="4764024"/>
            <a:ext cx="322326" cy="0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3499866" y="4764024"/>
            <a:ext cx="0" cy="73152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3198114" y="4837176"/>
            <a:ext cx="60350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3198114" y="4837176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630" dirty="0"/>
          </a:p>
        </p:txBody>
      </p:sp>
      <p:sp>
        <p:nvSpPr>
          <p:cNvPr id="35" name="Shape 32"/>
          <p:cNvSpPr/>
          <p:nvPr/>
        </p:nvSpPr>
        <p:spPr>
          <a:xfrm>
            <a:off x="3177540" y="4764024"/>
            <a:ext cx="966978" cy="0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3"/>
          <p:cNvSpPr/>
          <p:nvPr/>
        </p:nvSpPr>
        <p:spPr>
          <a:xfrm>
            <a:off x="4144518" y="4764024"/>
            <a:ext cx="0" cy="73152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4"/>
          <p:cNvSpPr/>
          <p:nvPr/>
        </p:nvSpPr>
        <p:spPr>
          <a:xfrm>
            <a:off x="3842766" y="4837176"/>
            <a:ext cx="60350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3842766" y="4837176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pincode</a:t>
            </a:r>
            <a:endParaRPr lang="en-US" sz="630" dirty="0"/>
          </a:p>
        </p:txBody>
      </p:sp>
      <p:sp>
        <p:nvSpPr>
          <p:cNvPr id="39" name="Shape 36"/>
          <p:cNvSpPr/>
          <p:nvPr/>
        </p:nvSpPr>
        <p:spPr>
          <a:xfrm>
            <a:off x="3177540" y="4764024"/>
            <a:ext cx="1611630" cy="0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4789170" y="4764024"/>
            <a:ext cx="0" cy="73152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4487418" y="4837176"/>
            <a:ext cx="60350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4487418" y="4837176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630" dirty="0"/>
          </a:p>
        </p:txBody>
      </p:sp>
      <p:sp>
        <p:nvSpPr>
          <p:cNvPr id="43" name="Shape 40"/>
          <p:cNvSpPr/>
          <p:nvPr/>
        </p:nvSpPr>
        <p:spPr>
          <a:xfrm>
            <a:off x="3177540" y="4764024"/>
            <a:ext cx="2256282" cy="0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1"/>
          <p:cNvSpPr/>
          <p:nvPr/>
        </p:nvSpPr>
        <p:spPr>
          <a:xfrm>
            <a:off x="5433822" y="4764024"/>
            <a:ext cx="0" cy="73152"/>
          </a:xfrm>
          <a:prstGeom prst="line">
            <a:avLst/>
          </a:prstGeom>
          <a:noFill/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2"/>
          <p:cNvSpPr/>
          <p:nvPr/>
        </p:nvSpPr>
        <p:spPr>
          <a:xfrm>
            <a:off x="5132070" y="4837176"/>
            <a:ext cx="603504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6C3F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5132070" y="4837176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3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630" dirty="0"/>
          </a:p>
        </p:txBody>
      </p:sp>
      <p:sp>
        <p:nvSpPr>
          <p:cNvPr id="47" name="Shape 44"/>
          <p:cNvSpPr/>
          <p:nvPr/>
        </p:nvSpPr>
        <p:spPr>
          <a:xfrm>
            <a:off x="6144768" y="1261872"/>
            <a:ext cx="5632704" cy="5230368"/>
          </a:xfrm>
          <a:prstGeom prst="roundRect">
            <a:avLst>
              <a:gd name="adj" fmla="val 1748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5"/>
          <p:cNvSpPr/>
          <p:nvPr/>
        </p:nvSpPr>
        <p:spPr>
          <a:xfrm>
            <a:off x="6291072" y="1385075"/>
            <a:ext cx="5303520" cy="384048"/>
          </a:xfrm>
          <a:prstGeom prst="roundRect">
            <a:avLst>
              <a:gd name="adj" fmla="val 19048"/>
            </a:avLst>
          </a:prstGeom>
          <a:solidFill>
            <a:srgbClr val="C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6"/>
          <p:cNvSpPr/>
          <p:nvPr/>
        </p:nvSpPr>
        <p:spPr>
          <a:xfrm>
            <a:off x="6309360" y="140817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an ORDBMS</a:t>
            </a:r>
            <a:endParaRPr lang="en-US" sz="1350" dirty="0"/>
          </a:p>
        </p:txBody>
      </p:sp>
      <p:sp>
        <p:nvSpPr>
          <p:cNvPr id="50" name="Text 47"/>
          <p:cNvSpPr/>
          <p:nvPr/>
        </p:nvSpPr>
        <p:spPr>
          <a:xfrm>
            <a:off x="6327648" y="1865376"/>
            <a:ext cx="5266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E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define a user-defined type (Address) grouping the related attributes; STUDENT has one attribute of type Address.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6327648" y="2286000"/>
            <a:ext cx="5266944" cy="1207008"/>
          </a:xfrm>
          <a:prstGeom prst="roundRect">
            <a:avLst>
              <a:gd name="adj" fmla="val 6061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492240" y="2377440"/>
            <a:ext cx="4937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 </a:t>
            </a:r>
            <a:r>
              <a:rPr lang="en-US" sz="8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AS (House Char(20),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Locality Char(20), City Char(12),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 Char(15), Pincode Char(6));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 (name Char(25),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 </a:t>
            </a:r>
            <a:r>
              <a:rPr lang="en-US" sz="85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phone Char(12),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programme Char(5));</a:t>
            </a:r>
            <a:endParaRPr lang="en-US" sz="85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191596"/>
              </p:ext>
            </p:extLst>
          </p:nvPr>
        </p:nvGraphicFramePr>
        <p:xfrm>
          <a:off x="6327648" y="3593592"/>
          <a:ext cx="5029200" cy="731520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3B1E6D"/>
                          </a:solidFill>
                        </a:rPr>
                        <a:t>name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0" dirty="0">
                          <a:solidFill>
                            <a:srgbClr val="3B1E6D"/>
                          </a:solidFill>
                        </a:rPr>
                        <a:t>address</a:t>
                      </a:r>
                      <a:endParaRPr lang="en-US" sz="750" b="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3B1E6D"/>
                          </a:solidFill>
                        </a:rPr>
                        <a:t>phone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D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3B1E6D"/>
                          </a:solidFill>
                        </a:rPr>
                        <a:t>programme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7D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A1A4A"/>
                          </a:solidFill>
                        </a:rPr>
                        <a:t>Anu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2A1A4A"/>
                          </a:solidFill>
                        </a:rPr>
                        <a:t>Rose Villa, Edappally, Kochi, Kerala, 682024</a:t>
                      </a:r>
                      <a:endParaRPr lang="en-US" sz="70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A1A4A"/>
                          </a:solidFill>
                        </a:rPr>
                        <a:t>9876543210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dirty="0">
                          <a:solidFill>
                            <a:srgbClr val="2A1A4A"/>
                          </a:solidFill>
                        </a:rPr>
                        <a:t>MCA</a:t>
                      </a:r>
                      <a:endParaRPr lang="en-US" sz="750" dirty="0"/>
                    </a:p>
                  </a:txBody>
                  <a:tcPr anchor="ctr">
                    <a:lnL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B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4" name="Shape 50"/>
          <p:cNvSpPr/>
          <p:nvPr/>
        </p:nvSpPr>
        <p:spPr>
          <a:xfrm>
            <a:off x="8435340" y="4507992"/>
            <a:ext cx="1051560" cy="310896"/>
          </a:xfrm>
          <a:prstGeom prst="roundRect">
            <a:avLst>
              <a:gd name="adj" fmla="val 17647"/>
            </a:avLst>
          </a:prstGeom>
          <a:solidFill>
            <a:srgbClr val="C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1"/>
          <p:cNvSpPr/>
          <p:nvPr/>
        </p:nvSpPr>
        <p:spPr>
          <a:xfrm>
            <a:off x="8435340" y="45079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850" dirty="0"/>
          </a:p>
        </p:txBody>
      </p:sp>
      <p:sp>
        <p:nvSpPr>
          <p:cNvPr id="56" name="Shape 52"/>
          <p:cNvSpPr/>
          <p:nvPr/>
        </p:nvSpPr>
        <p:spPr>
          <a:xfrm>
            <a:off x="8961120" y="4818888"/>
            <a:ext cx="0" cy="91440"/>
          </a:xfrm>
          <a:prstGeom prst="line">
            <a:avLst/>
          </a:prstGeom>
          <a:noFill/>
          <a:ln w="1587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3"/>
          <p:cNvSpPr/>
          <p:nvPr/>
        </p:nvSpPr>
        <p:spPr>
          <a:xfrm>
            <a:off x="7178040" y="4910328"/>
            <a:ext cx="1783080" cy="0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4"/>
          <p:cNvSpPr/>
          <p:nvPr/>
        </p:nvSpPr>
        <p:spPr>
          <a:xfrm>
            <a:off x="7178040" y="4910328"/>
            <a:ext cx="0" cy="64008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5"/>
          <p:cNvSpPr/>
          <p:nvPr/>
        </p:nvSpPr>
        <p:spPr>
          <a:xfrm>
            <a:off x="6652260" y="4974336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6"/>
          <p:cNvSpPr/>
          <p:nvPr/>
        </p:nvSpPr>
        <p:spPr>
          <a:xfrm>
            <a:off x="6652260" y="4974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800" dirty="0"/>
          </a:p>
        </p:txBody>
      </p:sp>
      <p:sp>
        <p:nvSpPr>
          <p:cNvPr id="61" name="Shape 57"/>
          <p:cNvSpPr/>
          <p:nvPr/>
        </p:nvSpPr>
        <p:spPr>
          <a:xfrm>
            <a:off x="8366760" y="4910328"/>
            <a:ext cx="594360" cy="0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58"/>
          <p:cNvSpPr/>
          <p:nvPr/>
        </p:nvSpPr>
        <p:spPr>
          <a:xfrm>
            <a:off x="8366760" y="4910328"/>
            <a:ext cx="0" cy="64008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9"/>
          <p:cNvSpPr/>
          <p:nvPr/>
        </p:nvSpPr>
        <p:spPr>
          <a:xfrm>
            <a:off x="7840980" y="4974336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C77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0"/>
          <p:cNvSpPr/>
          <p:nvPr/>
        </p:nvSpPr>
        <p:spPr>
          <a:xfrm>
            <a:off x="7840980" y="4974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800" dirty="0"/>
          </a:p>
        </p:txBody>
      </p:sp>
      <p:sp>
        <p:nvSpPr>
          <p:cNvPr id="65" name="Shape 61"/>
          <p:cNvSpPr/>
          <p:nvPr/>
        </p:nvSpPr>
        <p:spPr>
          <a:xfrm>
            <a:off x="8961120" y="4910328"/>
            <a:ext cx="594360" cy="0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2"/>
          <p:cNvSpPr/>
          <p:nvPr/>
        </p:nvSpPr>
        <p:spPr>
          <a:xfrm>
            <a:off x="9555480" y="4910328"/>
            <a:ext cx="0" cy="64008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3"/>
          <p:cNvSpPr/>
          <p:nvPr/>
        </p:nvSpPr>
        <p:spPr>
          <a:xfrm>
            <a:off x="9029700" y="4974336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4"/>
          <p:cNvSpPr/>
          <p:nvPr/>
        </p:nvSpPr>
        <p:spPr>
          <a:xfrm>
            <a:off x="9029700" y="4974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800" dirty="0"/>
          </a:p>
        </p:txBody>
      </p:sp>
      <p:sp>
        <p:nvSpPr>
          <p:cNvPr id="69" name="Shape 65"/>
          <p:cNvSpPr/>
          <p:nvPr/>
        </p:nvSpPr>
        <p:spPr>
          <a:xfrm>
            <a:off x="8961120" y="4910328"/>
            <a:ext cx="1783080" cy="0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6"/>
          <p:cNvSpPr/>
          <p:nvPr/>
        </p:nvSpPr>
        <p:spPr>
          <a:xfrm>
            <a:off x="10744200" y="4910328"/>
            <a:ext cx="0" cy="64008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7"/>
          <p:cNvSpPr/>
          <p:nvPr/>
        </p:nvSpPr>
        <p:spPr>
          <a:xfrm>
            <a:off x="10218420" y="4974336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68"/>
          <p:cNvSpPr/>
          <p:nvPr/>
        </p:nvSpPr>
        <p:spPr>
          <a:xfrm>
            <a:off x="10218420" y="4974336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</a:t>
            </a:r>
            <a:endParaRPr lang="en-US" sz="800" dirty="0"/>
          </a:p>
        </p:txBody>
      </p:sp>
      <p:sp>
        <p:nvSpPr>
          <p:cNvPr id="73" name="Shape 69"/>
          <p:cNvSpPr/>
          <p:nvPr/>
        </p:nvSpPr>
        <p:spPr>
          <a:xfrm>
            <a:off x="8366760" y="5303520"/>
            <a:ext cx="0" cy="82296"/>
          </a:xfrm>
          <a:prstGeom prst="line">
            <a:avLst/>
          </a:prstGeom>
          <a:noFill/>
          <a:ln w="1587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0"/>
          <p:cNvSpPr/>
          <p:nvPr/>
        </p:nvSpPr>
        <p:spPr>
          <a:xfrm>
            <a:off x="7059168" y="5385816"/>
            <a:ext cx="1307592" cy="0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1"/>
          <p:cNvSpPr/>
          <p:nvPr/>
        </p:nvSpPr>
        <p:spPr>
          <a:xfrm>
            <a:off x="7059168" y="5385816"/>
            <a:ext cx="0" cy="54864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2"/>
          <p:cNvSpPr/>
          <p:nvPr/>
        </p:nvSpPr>
        <p:spPr>
          <a:xfrm>
            <a:off x="6611112" y="5440680"/>
            <a:ext cx="896112" cy="310896"/>
          </a:xfrm>
          <a:prstGeom prst="roundRect">
            <a:avLst>
              <a:gd name="adj" fmla="val 14706"/>
            </a:avLst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3"/>
          <p:cNvSpPr/>
          <p:nvPr/>
        </p:nvSpPr>
        <p:spPr>
          <a:xfrm>
            <a:off x="6611112" y="5440680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</a:t>
            </a:r>
            <a:endParaRPr lang="en-US" sz="700" dirty="0"/>
          </a:p>
        </p:txBody>
      </p:sp>
      <p:sp>
        <p:nvSpPr>
          <p:cNvPr id="78" name="Shape 74"/>
          <p:cNvSpPr/>
          <p:nvPr/>
        </p:nvSpPr>
        <p:spPr>
          <a:xfrm>
            <a:off x="8010144" y="5385816"/>
            <a:ext cx="356616" cy="0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5"/>
          <p:cNvSpPr/>
          <p:nvPr/>
        </p:nvSpPr>
        <p:spPr>
          <a:xfrm>
            <a:off x="8010144" y="5385816"/>
            <a:ext cx="0" cy="54864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6"/>
          <p:cNvSpPr/>
          <p:nvPr/>
        </p:nvSpPr>
        <p:spPr>
          <a:xfrm>
            <a:off x="7562088" y="5440680"/>
            <a:ext cx="896112" cy="310896"/>
          </a:xfrm>
          <a:prstGeom prst="roundRect">
            <a:avLst>
              <a:gd name="adj" fmla="val 14706"/>
            </a:avLst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7"/>
          <p:cNvSpPr/>
          <p:nvPr/>
        </p:nvSpPr>
        <p:spPr>
          <a:xfrm>
            <a:off x="7562088" y="5440680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Locality</a:t>
            </a:r>
            <a:endParaRPr lang="en-US" sz="700" dirty="0"/>
          </a:p>
        </p:txBody>
      </p:sp>
      <p:sp>
        <p:nvSpPr>
          <p:cNvPr id="82" name="Shape 78"/>
          <p:cNvSpPr/>
          <p:nvPr/>
        </p:nvSpPr>
        <p:spPr>
          <a:xfrm>
            <a:off x="8366760" y="5385816"/>
            <a:ext cx="594360" cy="0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79"/>
          <p:cNvSpPr/>
          <p:nvPr/>
        </p:nvSpPr>
        <p:spPr>
          <a:xfrm>
            <a:off x="8961120" y="5385816"/>
            <a:ext cx="0" cy="54864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0"/>
          <p:cNvSpPr/>
          <p:nvPr/>
        </p:nvSpPr>
        <p:spPr>
          <a:xfrm>
            <a:off x="8513064" y="5440680"/>
            <a:ext cx="896112" cy="310896"/>
          </a:xfrm>
          <a:prstGeom prst="roundRect">
            <a:avLst>
              <a:gd name="adj" fmla="val 14706"/>
            </a:avLst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Text 81"/>
          <p:cNvSpPr/>
          <p:nvPr/>
        </p:nvSpPr>
        <p:spPr>
          <a:xfrm>
            <a:off x="8513064" y="5440680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700" dirty="0"/>
          </a:p>
        </p:txBody>
      </p:sp>
      <p:sp>
        <p:nvSpPr>
          <p:cNvPr id="86" name="Shape 82"/>
          <p:cNvSpPr/>
          <p:nvPr/>
        </p:nvSpPr>
        <p:spPr>
          <a:xfrm>
            <a:off x="8366760" y="5385816"/>
            <a:ext cx="1545336" cy="0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3"/>
          <p:cNvSpPr/>
          <p:nvPr/>
        </p:nvSpPr>
        <p:spPr>
          <a:xfrm>
            <a:off x="9912096" y="5385816"/>
            <a:ext cx="0" cy="54864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4"/>
          <p:cNvSpPr/>
          <p:nvPr/>
        </p:nvSpPr>
        <p:spPr>
          <a:xfrm>
            <a:off x="9464040" y="5440680"/>
            <a:ext cx="896112" cy="310896"/>
          </a:xfrm>
          <a:prstGeom prst="roundRect">
            <a:avLst>
              <a:gd name="adj" fmla="val 14706"/>
            </a:avLst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5"/>
          <p:cNvSpPr/>
          <p:nvPr/>
        </p:nvSpPr>
        <p:spPr>
          <a:xfrm>
            <a:off x="9464040" y="5440680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700" dirty="0"/>
          </a:p>
        </p:txBody>
      </p:sp>
      <p:sp>
        <p:nvSpPr>
          <p:cNvPr id="90" name="Shape 86"/>
          <p:cNvSpPr/>
          <p:nvPr/>
        </p:nvSpPr>
        <p:spPr>
          <a:xfrm>
            <a:off x="8366760" y="5385816"/>
            <a:ext cx="2496312" cy="0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Shape 87"/>
          <p:cNvSpPr/>
          <p:nvPr/>
        </p:nvSpPr>
        <p:spPr>
          <a:xfrm>
            <a:off x="10863072" y="5385816"/>
            <a:ext cx="0" cy="54864"/>
          </a:xfrm>
          <a:prstGeom prst="line">
            <a:avLst/>
          </a:prstGeom>
          <a:noFill/>
          <a:ln w="12700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88"/>
          <p:cNvSpPr/>
          <p:nvPr/>
        </p:nvSpPr>
        <p:spPr>
          <a:xfrm>
            <a:off x="10415016" y="5440680"/>
            <a:ext cx="896112" cy="310896"/>
          </a:xfrm>
          <a:prstGeom prst="roundRect">
            <a:avLst>
              <a:gd name="adj" fmla="val 14706"/>
            </a:avLst>
          </a:prstGeom>
          <a:solidFill>
            <a:srgbClr val="6C3F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3" name="Text 89"/>
          <p:cNvSpPr/>
          <p:nvPr/>
        </p:nvSpPr>
        <p:spPr>
          <a:xfrm>
            <a:off x="10415016" y="5440680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Pincode</a:t>
            </a:r>
            <a:endParaRPr lang="en-US" sz="700" dirty="0"/>
          </a:p>
        </p:txBody>
      </p:sp>
      <p:sp>
        <p:nvSpPr>
          <p:cNvPr id="94" name="Text 90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95" name="Text 91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DATA TYPES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Querying a Composite Attribute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Address is now one attribute of type Address, you can use it as a whole — or reach into its components with dot notation.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3566160"/>
          </a:xfrm>
          <a:prstGeom prst="roundRect">
            <a:avLst>
              <a:gd name="adj" fmla="val 3077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Use the whole composite attribute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name &amp; address of MCA students: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4892040" cy="1371600"/>
          </a:xfrm>
          <a:prstGeom prst="roundRect">
            <a:avLst>
              <a:gd name="adj" fmla="val 5333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7552" y="3291840"/>
            <a:ext cx="45628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name, address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 student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 programme = 'MCA';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440680" cy="3566160"/>
          </a:xfrm>
          <a:prstGeom prst="roundRect">
            <a:avLst>
              <a:gd name="adj" fmla="val 3077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Reach a single component with “ . ”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4652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9CB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name &amp; address of MCA students in Mumbai: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46520" y="3200400"/>
            <a:ext cx="4892040" cy="1691640"/>
          </a:xfrm>
          <a:prstGeom prst="roundRect">
            <a:avLst>
              <a:gd name="adj" fmla="val 4324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11112" y="3291840"/>
            <a:ext cx="45628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 name, address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   student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  programme = 'MCA'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  address.city = 'Mumbai';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👉 The address stays intact as one field, yet each part is still individually queryable.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METHODS &amp; INHERITANCE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57464" y="629813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Structured Types in ORDBMS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94360" y="1187597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 isn't just data — it can define methods (operations), and be marked FINAL or NOT FINAL (exactly like Java) to control whether it can be inherited further.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140440" cy="3291840"/>
          </a:xfrm>
          <a:prstGeom prst="roundRect">
            <a:avLst>
              <a:gd name="adj" fmla="val 2222"/>
            </a:avLst>
          </a:prstGeom>
          <a:solidFill>
            <a:schemeClr val="accent5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2377440"/>
            <a:ext cx="10735056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229628" y="5674895"/>
            <a:ext cx="9445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50000"/>
              </a:lnSpc>
            </a:pPr>
            <a:r>
              <a:rPr lang="en-US" sz="120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</a:t>
            </a:r>
            <a:r>
              <a:rPr lang="en-US" sz="12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type cannot be inherited further.   </a:t>
            </a:r>
            <a:r>
              <a:rPr lang="en-US" sz="120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FINAL </a:t>
            </a:r>
            <a:r>
              <a:rPr lang="en-US" sz="12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other types can extend it.   </a:t>
            </a:r>
            <a:r>
              <a:rPr lang="en-US" sz="120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</a:t>
            </a:r>
            <a:r>
              <a:rPr lang="en-US" sz="12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00" dirty="0"/>
              <a:t>A method is an operation or function associated with a structured type that  performs a specific task</a:t>
            </a:r>
            <a:r>
              <a:rPr lang="en-US" sz="12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11" name="Picture 10" descr="A diagram illustrating the concept of structured types, their methods, and inheritance in an Object-Relational Database Management System (ORDBMS).&#10;&#10;AI-generated content may be incorrect.">
            <a:extLst>
              <a:ext uri="{FF2B5EF4-FFF2-40B4-BE49-F238E27FC236}">
                <a16:creationId xmlns:a16="http://schemas.microsoft.com/office/drawing/2014/main" id="{5334CD5B-B6D3-750A-58C9-56D3558ECB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80" b="59845"/>
          <a:stretch>
            <a:fillRect/>
          </a:stretch>
        </p:blipFill>
        <p:spPr>
          <a:xfrm>
            <a:off x="594360" y="2492623"/>
            <a:ext cx="11018520" cy="26167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93D7C64-EBAB-EE6D-A1B9-04CFFC717AE9}"/>
              </a:ext>
            </a:extLst>
          </p:cNvPr>
          <p:cNvSpPr/>
          <p:nvPr/>
        </p:nvSpPr>
        <p:spPr>
          <a:xfrm>
            <a:off x="8237620" y="4751991"/>
            <a:ext cx="3144253" cy="73440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Date 1 → 20/09/2026</a:t>
            </a:r>
          </a:p>
          <a:p>
            <a:pPr algn="ctr"/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Date 2 → 27/09/2026</a:t>
            </a:r>
          </a:p>
          <a:p>
            <a:pPr algn="ctr"/>
            <a:endParaRPr lang="en-U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U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difference() → 7 days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TYPES, METHODS &amp; INHERITANCE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Inheritance &amp; Table Inheritance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5820" y="1449407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Inheritance (UNDER)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and Staff both share name &amp; address — so both inherit from University-person instead of repeating fields.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00100" y="2949340"/>
            <a:ext cx="4892040" cy="2765659"/>
          </a:xfrm>
          <a:prstGeom prst="roundRect">
            <a:avLst>
              <a:gd name="adj" fmla="val 3721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87552" y="3108960"/>
            <a:ext cx="45628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 University_person AS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Name,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  </a:t>
            </a:r>
            <a:r>
              <a:rPr lang="en-US" sz="1050" dirty="0" err="1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 Student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UNDER University_person (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programme Char(10)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</a:p>
          <a:p>
            <a:pPr marL="0" indent="0">
              <a:buNone/>
            </a:pPr>
            <a:endParaRPr lang="en-US" sz="1050" dirty="0">
              <a:solidFill>
                <a:srgbClr val="B9F6CA"/>
              </a:solidFill>
              <a:latin typeface="Courier New" pitchFamily="34" charset="0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cs typeface="Courier New" pitchFamily="34" charset="-120"/>
              </a:rPr>
              <a:t>CREATE TYPE Staff</a:t>
            </a:r>
          </a:p>
          <a:p>
            <a:r>
              <a:rPr lang="en-US" sz="1050" dirty="0">
                <a:solidFill>
                  <a:srgbClr val="B9F6CA"/>
                </a:solidFill>
                <a:latin typeface="Courier New" pitchFamily="34" charset="0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UNDER University-person ( </a:t>
            </a:r>
          </a:p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designation Char(10),</a:t>
            </a:r>
          </a:p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basic-salary Number(7)</a:t>
            </a:r>
          </a:p>
          <a:p>
            <a:r>
              <a:rPr lang="en-US" sz="105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</p:txBody>
      </p:sp>
      <p:sp>
        <p:nvSpPr>
          <p:cNvPr id="9" name="Text 7"/>
          <p:cNvSpPr/>
          <p:nvPr/>
        </p:nvSpPr>
        <p:spPr>
          <a:xfrm>
            <a:off x="822960" y="51206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49901" y="1389888"/>
            <a:ext cx="5440680" cy="4480560"/>
          </a:xfrm>
          <a:prstGeom prst="roundRect">
            <a:avLst>
              <a:gd name="adj" fmla="val 2449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446520" y="1497533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Inheritance (OF ... UNDER)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46520" y="2146434"/>
            <a:ext cx="4892040" cy="1691640"/>
          </a:xfrm>
          <a:prstGeom prst="roundRect">
            <a:avLst>
              <a:gd name="adj" fmla="val 4324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11112" y="2377440"/>
            <a:ext cx="456285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University_members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OF University_person;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student_list OF Student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UNDER University_members;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46520" y="4069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inserted into student_list is automatically present in university_members too. Use ONLY to query just the parent table: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46520" y="4715578"/>
            <a:ext cx="4892040" cy="822960"/>
          </a:xfrm>
          <a:prstGeom prst="roundRect">
            <a:avLst>
              <a:gd name="adj" fmla="val 8889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11112" y="4983480"/>
            <a:ext cx="4562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 FROM university_members ONLY;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DATA TYPES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Multi-Valued Attributes: Array &amp; Multiset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</a:t>
            </a:r>
            <a:r>
              <a:rPr lang="en-US" sz="13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stores values in a fixed, ordered sequence.   </a:t>
            </a:r>
            <a:r>
              <a:rPr lang="en-US" sz="130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MULTISET </a:t>
            </a:r>
            <a:r>
              <a:rPr lang="en-US" sz="130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stores values in an unordered set (duplicates allowed).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2286000"/>
            <a:ext cx="1073505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TYPE Book AS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ISBNNO     Char(14),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      Char(25),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AUTHORS    Char(25) ARRAY [5],     -- ordered list, e.g. first author = AUTHORS[1]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PUBLISHER  Char(20),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KEYWORDS   Char(10) MULTISET        -- unordered set of keywords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library OF Book;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77240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books tagged “Object Oriented”: </a:t>
            </a:r>
          </a:p>
          <a:p>
            <a:pPr marL="0" indent="0">
              <a:buNone/>
            </a:pPr>
            <a:r>
              <a:rPr lang="en-US" sz="1100" i="1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checks: “Is the </a:t>
            </a:r>
            <a:r>
              <a:rPr lang="en-US" sz="1100" b="1" i="1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oriented </a:t>
            </a:r>
            <a:r>
              <a:rPr lang="en-US" sz="1100" i="1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among the keywords?”….if yes, the book is selected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480060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1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ISBNNO, TITLE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B1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library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B1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'Object Oriented' IN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B1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(UNNEST(KEYWORDS));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43434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first author of each book: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4800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B1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ISBNNO, TITLE, AUTHORS[1]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3B1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library;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IDENTITY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Referencing Objects with REF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one row needs to point to another (e.g. a purchase record pointing to a library book), SQL uses REF ... SCOPE to link them — like an object pointer.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2377440"/>
            <a:ext cx="10735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book_purchase_table (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ACCESSION_NO  CHAR(10),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ISBNNO        REF(Book) SCOPE (library)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5394960" cy="2331720"/>
          </a:xfrm>
          <a:prstGeom prst="roundRect">
            <a:avLst>
              <a:gd name="adj" fmla="val 4706"/>
            </a:avLst>
          </a:prstGeom>
          <a:solidFill>
            <a:srgbClr val="EDE7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GENERATED reference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NULL reference first, then UPDATE it by sub-querying the system-generated object ID for the matching ISBN.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3840480"/>
            <a:ext cx="5440680" cy="2331720"/>
          </a:xfrm>
          <a:prstGeom prst="roundRect">
            <a:avLst>
              <a:gd name="adj" fmla="val 4706"/>
            </a:avLst>
          </a:prstGeom>
          <a:solidFill>
            <a:srgbClr val="3B1E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77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GENERATED reference (simpler)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46520" y="4434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ISBNNO is already the library table's key, declare the REF as USER GENERATED — then insert the ISBN value directly: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5257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book_purchase_table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B9F6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('912345678','83-7758-476-6');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4D704C-7D40-2036-94CF-09BB6851A6F5}"/>
              </a:ext>
            </a:extLst>
          </p:cNvPr>
          <p:cNvSpPr/>
          <p:nvPr/>
        </p:nvSpPr>
        <p:spPr>
          <a:xfrm>
            <a:off x="7239801" y="2377440"/>
            <a:ext cx="4098759" cy="1188720"/>
          </a:xfrm>
          <a:prstGeom prst="rect">
            <a:avLst/>
          </a:prstGeom>
          <a:solidFill>
            <a:srgbClr val="EDE7F9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200" i="1" dirty="0"/>
              <a:t>ACCESSION_NO : column that stores the accession number</a:t>
            </a:r>
          </a:p>
          <a:p>
            <a:r>
              <a:rPr lang="en-US" sz="1200" i="1" dirty="0"/>
              <a:t>ISBNNO: column that stores ISBN</a:t>
            </a:r>
          </a:p>
          <a:p>
            <a:r>
              <a:rPr lang="en-US" sz="1200" i="1" dirty="0"/>
              <a:t>REF: Creates a reference/pointer to an object</a:t>
            </a:r>
          </a:p>
          <a:p>
            <a:r>
              <a:rPr lang="en-US" sz="1200" i="1" dirty="0"/>
              <a:t>SCOPE: specifies where the referenced object is stored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C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 ORDBMS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3B1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ORDBMS vs OODBMS — Quick Comparison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017520" cy="566928"/>
          </a:xfrm>
          <a:prstGeom prst="rect">
            <a:avLst/>
          </a:prstGeom>
          <a:solidFill>
            <a:srgbClr val="3B1E6D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91640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566160" y="1691640"/>
            <a:ext cx="4023360" cy="566928"/>
          </a:xfrm>
          <a:prstGeom prst="rect">
            <a:avLst/>
          </a:prstGeom>
          <a:solidFill>
            <a:srgbClr val="3B1E6D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75888" y="1691640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ORDBMS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0" y="1691640"/>
            <a:ext cx="4023360" cy="566928"/>
          </a:xfrm>
          <a:prstGeom prst="rect">
            <a:avLst/>
          </a:prstGeom>
          <a:solidFill>
            <a:srgbClr val="3B1E6D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99248" y="1691640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OODBMS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258568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225856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566160" y="2258568"/>
            <a:ext cx="4023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75888" y="2258568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relational model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7589520" y="2258568"/>
            <a:ext cx="4023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99248" y="2258568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object-oriented programming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2825496"/>
            <a:ext cx="3017520" cy="566928"/>
          </a:xfrm>
          <a:prstGeom prst="rect">
            <a:avLst/>
          </a:prstGeom>
          <a:solidFill>
            <a:srgbClr val="EDE7F9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8368" y="2825496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power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3566160" y="2825496"/>
            <a:ext cx="4023360" cy="566928"/>
          </a:xfrm>
          <a:prstGeom prst="rect">
            <a:avLst/>
          </a:prstGeom>
          <a:solidFill>
            <a:srgbClr val="EDE7F9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75888" y="2825496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mature SQL-based querying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7589520" y="2825496"/>
            <a:ext cx="4023360" cy="566928"/>
          </a:xfrm>
          <a:prstGeom prst="rect">
            <a:avLst/>
          </a:prstGeom>
          <a:solidFill>
            <a:srgbClr val="EDE7F9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699248" y="2825496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Weaker; not as powerful as SQL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3392424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3392424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from errors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3566160" y="3392424"/>
            <a:ext cx="4023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75888" y="3392424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— SQL is a disciplined 4GL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589520" y="3392424"/>
            <a:ext cx="4023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699248" y="3392424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in one data type can affect many users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48640" y="3959352"/>
            <a:ext cx="3017520" cy="566928"/>
          </a:xfrm>
          <a:prstGeom prst="rect">
            <a:avLst/>
          </a:prstGeom>
          <a:solidFill>
            <a:srgbClr val="EDE7F9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" y="3959352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integration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3566160" y="3959352"/>
            <a:ext cx="4023360" cy="566928"/>
          </a:xfrm>
          <a:prstGeom prst="rect">
            <a:avLst/>
          </a:prstGeom>
          <a:solidFill>
            <a:srgbClr val="EDE7F9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75888" y="3959352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7589520" y="3959352"/>
            <a:ext cx="4023360" cy="566928"/>
          </a:xfrm>
          <a:prstGeom prst="rect">
            <a:avLst/>
          </a:prstGeom>
          <a:solidFill>
            <a:srgbClr val="EDE7F9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699248" y="3959352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integration with OOP languages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548640" y="4526280"/>
            <a:ext cx="30175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" y="4526280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3566160" y="4526280"/>
            <a:ext cx="4023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75888" y="4526280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processing, business apps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7589520" y="4526280"/>
            <a:ext cx="40233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699248" y="4526280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CAD, e-commerce, highly complex apps</a:t>
            </a:r>
            <a:endParaRPr lang="en-US" sz="1080" dirty="0"/>
          </a:p>
        </p:txBody>
      </p:sp>
      <p:sp>
        <p:nvSpPr>
          <p:cNvPr id="40" name="Shape 38"/>
          <p:cNvSpPr/>
          <p:nvPr/>
        </p:nvSpPr>
        <p:spPr>
          <a:xfrm>
            <a:off x="548640" y="5093208"/>
            <a:ext cx="3017520" cy="566928"/>
          </a:xfrm>
          <a:prstGeom prst="rect">
            <a:avLst/>
          </a:prstGeom>
          <a:solidFill>
            <a:srgbClr val="EDE7F9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58368" y="5093208"/>
            <a:ext cx="27980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profile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3566160" y="5093208"/>
            <a:ext cx="4023360" cy="566928"/>
          </a:xfrm>
          <a:prstGeom prst="rect">
            <a:avLst/>
          </a:prstGeom>
          <a:solidFill>
            <a:srgbClr val="EDE7F9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675888" y="5093208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for typical query workloads</a:t>
            </a:r>
            <a:endParaRPr lang="en-US" sz="1080" dirty="0"/>
          </a:p>
        </p:txBody>
      </p:sp>
      <p:sp>
        <p:nvSpPr>
          <p:cNvPr id="44" name="Shape 42"/>
          <p:cNvSpPr/>
          <p:nvPr/>
        </p:nvSpPr>
        <p:spPr>
          <a:xfrm>
            <a:off x="7589520" y="5093208"/>
            <a:ext cx="4023360" cy="566928"/>
          </a:xfrm>
          <a:prstGeom prst="rect">
            <a:avLst/>
          </a:prstGeom>
          <a:solidFill>
            <a:srgbClr val="EDE7F9"/>
          </a:solidFill>
          <a:ln w="9525">
            <a:solidFill>
              <a:srgbClr val="D9CB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699248" y="5093208"/>
            <a:ext cx="3803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good for memory-resident, complex objects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548640" y="5888736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they don't compete — they target different application profiles. Both extend the relational foundation with objects, from opposite directions.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B1E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3657600" cy="3657600"/>
          </a:xfrm>
          <a:prstGeom prst="ellipse">
            <a:avLst/>
          </a:prstGeom>
          <a:solidFill>
            <a:srgbClr val="6C3FB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Key Terms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492240" cy="4526280"/>
          </a:xfrm>
          <a:prstGeom prst="roundRect">
            <a:avLst>
              <a:gd name="adj" fmla="val 2424"/>
            </a:avLst>
          </a:prstGeom>
          <a:solidFill>
            <a:srgbClr val="6C3FBF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5943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ORDBMS = Relational + Object features; extends the mature relational model rather than replacing it.
•  Born from RDBMS's struggle with complex apps, multi-valued attributes and inheritance.
•  CREATE TYPE lets you build user-defined composite types (e.g. Address, Date).
•  Type inheritance (UNDER) and table inheritance (OF ... UNDER) avoid repeating shared fields.
•  ARRAY (ordered) and MULTISET (unordered) handle multi-valued attributes cleanly.
•  REF ... SCOPE gives object-style references between rows/tables.
•  ORDBMS and OODBMS solve overlapping problems from opposite starting points.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269480" y="1600200"/>
            <a:ext cx="4389120" cy="45262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Glossary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0" y="2194560"/>
            <a:ext cx="39319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ADT: </a:t>
            </a:r>
            <a:r>
              <a:rPr lang="en-US" sz="11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Data Type — atomic type + its methods.
</a:t>
            </a:r>
            <a:r>
              <a:rPr lang="en-US" sz="115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UDT: </a:t>
            </a:r>
            <a:r>
              <a:rPr lang="en-US" sz="11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User-Defined Type, created via CREATE TYPE.
</a:t>
            </a:r>
            <a:r>
              <a:rPr lang="en-US" sz="115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/ CLOB: </a:t>
            </a:r>
            <a:r>
              <a:rPr lang="en-US" sz="11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/ Character Large Object.
</a:t>
            </a:r>
            <a:r>
              <a:rPr lang="en-US" sz="115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REF: </a:t>
            </a:r>
            <a:r>
              <a:rPr lang="en-US" sz="11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reference / pointer to another row.
</a:t>
            </a:r>
            <a:r>
              <a:rPr lang="en-US" sz="1150" b="1" dirty="0">
                <a:solidFill>
                  <a:srgbClr val="3B1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150" dirty="0">
                <a:solidFill>
                  <a:srgbClr val="2A1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which table a REF points into.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Relational Database Systems (ORDBMS)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EE3643-1EE5-E6F3-2423-382D7F8BA7AD}"/>
              </a:ext>
            </a:extLst>
          </p:cNvPr>
          <p:cNvSpPr/>
          <p:nvPr/>
        </p:nvSpPr>
        <p:spPr>
          <a:xfrm>
            <a:off x="-473242" y="-208547"/>
            <a:ext cx="12887664" cy="7210926"/>
          </a:xfrm>
          <a:prstGeom prst="rect">
            <a:avLst/>
          </a:prstGeom>
          <a:solidFill>
            <a:srgbClr val="5C1F8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7343DB0-3BDE-A6E8-203E-636C0CF3F771}"/>
              </a:ext>
            </a:extLst>
          </p:cNvPr>
          <p:cNvSpPr/>
          <p:nvPr/>
        </p:nvSpPr>
        <p:spPr>
          <a:xfrm>
            <a:off x="1957137" y="842211"/>
            <a:ext cx="8333873" cy="5334000"/>
          </a:xfrm>
          <a:prstGeom prst="round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BB56D0C-A17F-5C74-FF06-5B719ED79EC0}"/>
              </a:ext>
            </a:extLst>
          </p:cNvPr>
          <p:cNvSpPr/>
          <p:nvPr/>
        </p:nvSpPr>
        <p:spPr>
          <a:xfrm>
            <a:off x="-890337" y="4636169"/>
            <a:ext cx="3264570" cy="308008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CC77454-A450-3D66-1B5F-58EA2FE505F2}"/>
              </a:ext>
            </a:extLst>
          </p:cNvPr>
          <p:cNvSpPr/>
          <p:nvPr/>
        </p:nvSpPr>
        <p:spPr>
          <a:xfrm>
            <a:off x="9763275" y="-641685"/>
            <a:ext cx="3360822" cy="3304674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77F4478-7175-6E34-940B-6B8F0360C481}"/>
              </a:ext>
            </a:extLst>
          </p:cNvPr>
          <p:cNvSpPr/>
          <p:nvPr/>
        </p:nvSpPr>
        <p:spPr>
          <a:xfrm>
            <a:off x="11117179" y="5558589"/>
            <a:ext cx="914400" cy="914400"/>
          </a:xfrm>
          <a:prstGeom prst="ellipse">
            <a:avLst/>
          </a:prstGeom>
          <a:solidFill>
            <a:srgbClr val="D3A4DC"/>
          </a:solidFill>
          <a:ln>
            <a:solidFill>
              <a:srgbClr val="D3A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55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330</TotalTime>
  <Words>2155</Words>
  <Application>Microsoft Office PowerPoint</Application>
  <PresentationFormat>Widescreen</PresentationFormat>
  <Paragraphs>349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Fathima Mehrin V M</cp:lastModifiedBy>
  <cp:revision>2</cp:revision>
  <dcterms:created xsi:type="dcterms:W3CDTF">2026-09-27T10:20:01Z</dcterms:created>
  <dcterms:modified xsi:type="dcterms:W3CDTF">2026-09-28T05:01:28Z</dcterms:modified>
</cp:coreProperties>
</file>